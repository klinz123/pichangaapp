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2466F"/>
                </a:solidFill>
                <a:latin typeface="Calibri"/>
              </a:rPr>
              <a:t>DIAGRAMA DE GANTT — PLAN DE IMPLEMENTACIÓN PICHANGAAPP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5214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Plataforma web (React 19 + Spring Boot 3 + SQL Server)  ·  16 semanas  ·  Presupuesto S/ 30,000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6112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6185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6257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6330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6402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6475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6547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6620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6692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6765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837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6910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6982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7055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7127" y="1170432"/>
            <a:ext cx="580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A6B7B"/>
                </a:solidFill>
                <a:latin typeface="Calibri"/>
              </a:rPr>
              <a:t>S16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1161288"/>
            <a:ext cx="2320290" cy="237744"/>
          </a:xfrm>
          <a:prstGeom prst="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1170432"/>
            <a:ext cx="232029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2466F"/>
                </a:solidFill>
                <a:latin typeface="Calibri"/>
              </a:rPr>
              <a:t>ANÁLISIS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26330" y="1161288"/>
            <a:ext cx="1740217" cy="237744"/>
          </a:xfrm>
          <a:prstGeom prst="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6330" y="1170432"/>
            <a:ext cx="1740217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2466F"/>
                </a:solidFill>
                <a:latin typeface="Calibri"/>
              </a:rPr>
              <a:t>DISEÑO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6547" y="1161288"/>
            <a:ext cx="2900362" cy="237744"/>
          </a:xfrm>
          <a:prstGeom prst="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6547" y="1170432"/>
            <a:ext cx="2900362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2466F"/>
                </a:solidFill>
                <a:latin typeface="Calibri"/>
              </a:rPr>
              <a:t>DESARROLLO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6910" y="1161288"/>
            <a:ext cx="1160145" cy="237744"/>
          </a:xfrm>
          <a:prstGeom prst="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6910" y="1170432"/>
            <a:ext cx="116014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2466F"/>
                </a:solidFill>
                <a:latin typeface="Calibri"/>
              </a:rPr>
              <a:t>QA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27055" y="1161288"/>
            <a:ext cx="1160145" cy="237744"/>
          </a:xfrm>
          <a:prstGeom prst="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27055" y="1170432"/>
            <a:ext cx="116014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2466F"/>
                </a:solidFill>
                <a:latin typeface="Calibri"/>
              </a:rPr>
              <a:t>LANZAMIENTO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1362456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F1. Análisis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86112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66185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6257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26330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06402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6475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66547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6620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26692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06765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6837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66910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46982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27055" y="141732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07127" y="141732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619756" y="1499616"/>
            <a:ext cx="2292858" cy="310896"/>
          </a:xfrm>
          <a:prstGeom prst="roundRect">
            <a:avLst>
              <a:gd name="adj" fmla="val 50000"/>
            </a:avLst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S1–S4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1892808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F2. Diseño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86112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66185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6257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26330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06402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86475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66547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6620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26692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06765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86837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66910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46982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27055" y="194767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307127" y="194767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940046" y="2029968"/>
            <a:ext cx="1712785" cy="310896"/>
          </a:xfrm>
          <a:prstGeom prst="roundRect">
            <a:avLst>
              <a:gd name="adj" fmla="val 50000"/>
            </a:avLst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S5–S7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2423160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F3. Backend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86112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66185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46257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26330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06402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86475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66547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246620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826692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06765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86837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66910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46982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27055" y="247802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307127" y="247802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680263" y="2560320"/>
            <a:ext cx="2292858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S8–S11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" y="2953512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F4. Frontend (Web React)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06040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186112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766185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46257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926330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06402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86475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66547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46620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26692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06765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986837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66910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146982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27055" y="3008376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07127" y="3008376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420481" y="3090672"/>
            <a:ext cx="1132713" cy="310896"/>
          </a:xfrm>
          <a:prstGeom prst="roundRect">
            <a:avLst>
              <a:gd name="adj" fmla="val 50000"/>
            </a:avLst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S11–S12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0040" y="3483864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F5. Integración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06040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86112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66185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46257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926330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506402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86475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66547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246620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826692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06765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986837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566910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146982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727055" y="3538728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307127" y="3538728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00553" y="3621024"/>
            <a:ext cx="552640" cy="310896"/>
          </a:xfrm>
          <a:prstGeom prst="roundRect">
            <a:avLst>
              <a:gd name="adj" fmla="val 50000"/>
            </a:avLst>
          </a:prstGeom>
          <a:solidFill>
            <a:srgbClr val="E5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0040" y="4014216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F6. QA / Calidad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606040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186112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66185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346257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926330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506402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086475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66547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246620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826692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406765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986837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566910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146982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727055" y="4069080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307127" y="4069080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580626" y="4151376"/>
            <a:ext cx="1132713" cy="310896"/>
          </a:xfrm>
          <a:prstGeom prst="roundRect">
            <a:avLst>
              <a:gd name="adj" fmla="val 50000"/>
            </a:avLst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S13–S14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" y="4544568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F7. Despliegue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06040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86112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766185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346257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926330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06402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086475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666547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246620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826692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406765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86837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566910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146982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727055" y="4599432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307127" y="4599432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0740771" y="4681728"/>
            <a:ext cx="552640" cy="310896"/>
          </a:xfrm>
          <a:prstGeom prst="roundRect">
            <a:avLst>
              <a:gd name="adj" fmla="val 50000"/>
            </a:avLst>
          </a:prstGeom>
          <a:solidFill>
            <a:srgbClr val="1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20040" y="5074920"/>
            <a:ext cx="20574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1A2733"/>
                </a:solidFill>
                <a:latin typeface="Calibri"/>
              </a:rPr>
              <a:t>F8. Cierre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606040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186112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766185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346257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926330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506402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086475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666547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46620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826692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406765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986837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566910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146982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727055" y="5129784"/>
            <a:ext cx="580072" cy="475488"/>
          </a:xfrm>
          <a:prstGeom prst="rect">
            <a:avLst/>
          </a:prstGeom>
          <a:solidFill>
            <a:srgbClr val="E8EEF4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307127" y="5129784"/>
            <a:ext cx="58007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1320843" y="5212080"/>
            <a:ext cx="552640" cy="310896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S16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20040" y="5696712"/>
            <a:ext cx="20574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2466F"/>
                </a:solidFill>
                <a:latin typeface="Calibri"/>
              </a:rPr>
              <a:t>HITOS:</a:t>
            </a:r>
          </a:p>
        </p:txBody>
      </p:sp>
      <p:sp>
        <p:nvSpPr>
          <p:cNvPr id="176" name="Diamond 175"/>
          <p:cNvSpPr/>
          <p:nvPr/>
        </p:nvSpPr>
        <p:spPr>
          <a:xfrm>
            <a:off x="4544853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859053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Doc. requisitos +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prototipos</a:t>
            </a:r>
          </a:p>
        </p:txBody>
      </p:sp>
      <p:sp>
        <p:nvSpPr>
          <p:cNvPr id="178" name="Diamond 177"/>
          <p:cNvSpPr/>
          <p:nvPr/>
        </p:nvSpPr>
        <p:spPr>
          <a:xfrm>
            <a:off x="6285071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599271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Script SQL y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diagramas</a:t>
            </a:r>
          </a:p>
        </p:txBody>
      </p:sp>
      <p:sp>
        <p:nvSpPr>
          <p:cNvPr id="180" name="Diamond 179"/>
          <p:cNvSpPr/>
          <p:nvPr/>
        </p:nvSpPr>
        <p:spPr>
          <a:xfrm>
            <a:off x="8605361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919561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API REST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funcional</a:t>
            </a:r>
          </a:p>
        </p:txBody>
      </p:sp>
      <p:sp>
        <p:nvSpPr>
          <p:cNvPr id="182" name="Diamond 181"/>
          <p:cNvSpPr/>
          <p:nvPr/>
        </p:nvSpPr>
        <p:spPr>
          <a:xfrm>
            <a:off x="9185433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499633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App web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React</a:t>
            </a:r>
          </a:p>
        </p:txBody>
      </p:sp>
      <p:sp>
        <p:nvSpPr>
          <p:cNvPr id="184" name="Diamond 183"/>
          <p:cNvSpPr/>
          <p:nvPr/>
        </p:nvSpPr>
        <p:spPr>
          <a:xfrm>
            <a:off x="9185433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499633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MVP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integrado</a:t>
            </a:r>
          </a:p>
        </p:txBody>
      </p:sp>
      <p:sp>
        <p:nvSpPr>
          <p:cNvPr id="186" name="Diamond 185"/>
          <p:cNvSpPr/>
          <p:nvPr/>
        </p:nvSpPr>
        <p:spPr>
          <a:xfrm>
            <a:off x="10345578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659778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Reporte de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calidad</a:t>
            </a:r>
          </a:p>
        </p:txBody>
      </p:sp>
      <p:sp>
        <p:nvSpPr>
          <p:cNvPr id="188" name="Diamond 187"/>
          <p:cNvSpPr/>
          <p:nvPr/>
        </p:nvSpPr>
        <p:spPr>
          <a:xfrm>
            <a:off x="10925651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239851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Plataforma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en línea</a:t>
            </a:r>
          </a:p>
        </p:txBody>
      </p:sp>
      <p:sp>
        <p:nvSpPr>
          <p:cNvPr id="190" name="Diamond 189"/>
          <p:cNvSpPr/>
          <p:nvPr/>
        </p:nvSpPr>
        <p:spPr>
          <a:xfrm>
            <a:off x="11505723" y="5824728"/>
            <a:ext cx="182880" cy="182880"/>
          </a:xfrm>
          <a:prstGeom prst="diamond">
            <a:avLst/>
          </a:prstGeom>
          <a:solidFill>
            <a:srgbClr val="12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819923" y="6025896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Proyecto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A6B7B"/>
                </a:solidFill>
                <a:latin typeface="Calibri"/>
              </a:rPr>
              <a:t>entregado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0040" y="6601968"/>
            <a:ext cx="115214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B7B"/>
                </a:solidFill>
                <a:latin typeface="Calibri"/>
              </a:rPr>
              <a:t>Elaboración propia — Curso Integrador I: Sistemas Software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