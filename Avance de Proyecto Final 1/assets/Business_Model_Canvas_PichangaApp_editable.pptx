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466F"/>
                </a:solidFill>
                <a:latin typeface="Calibri"/>
              </a:rPr>
              <a:t>BUSINESS MODEL CANVAS — PICHANGAAPP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Plataforma web de reserva de canchas deportivas y organización de pichangas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2240280" cy="370332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 w="15240">
            <a:solidFill>
              <a:srgbClr val="124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12466F"/>
                </a:solidFill>
                <a:latin typeface="Calibri"/>
              </a:rPr>
              <a:t>SOCIOS CLAVE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Propietarios de canchas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Pasarelas de pago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   (Yape, Plin, Mercado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   Pago, PayPal)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Proveedores de hosting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051560"/>
            <a:ext cx="2240280" cy="1920240"/>
          </a:xfrm>
          <a:prstGeom prst="roundRect">
            <a:avLst>
              <a:gd name="adj" fmla="val 4000"/>
            </a:avLst>
          </a:prstGeom>
          <a:solidFill>
            <a:srgbClr val="E7F3FB"/>
          </a:solidFill>
          <a:ln w="15240">
            <a:solidFill>
              <a:srgbClr val="124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12466F"/>
                </a:solidFill>
                <a:latin typeface="Calibri"/>
              </a:rPr>
              <a:t>ACTIVIDADES CLAVE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Desarrollo y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mantenimiento de la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plataforma web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Gestión de alianzas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con canchas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Soporte al usuario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Integración con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pasarelas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063240"/>
            <a:ext cx="2240280" cy="1691640"/>
          </a:xfrm>
          <a:prstGeom prst="roundRect">
            <a:avLst>
              <a:gd name="adj" fmla="val 4000"/>
            </a:avLst>
          </a:prstGeom>
          <a:solidFill>
            <a:srgbClr val="E7F3FB"/>
          </a:solidFill>
          <a:ln w="15240">
            <a:solidFill>
              <a:srgbClr val="124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12466F"/>
                </a:solidFill>
                <a:latin typeface="Calibri"/>
              </a:rPr>
              <a:t>RECURSOS CLAVE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Equipo de desarrollo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(5 personas)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Servidores y SQL Server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Integraciones de pago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Marca y plataforma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051560"/>
            <a:ext cx="2240280" cy="3703320"/>
          </a:xfrm>
          <a:prstGeom prst="roundRect">
            <a:avLst>
              <a:gd name="adj" fmla="val 4000"/>
            </a:avLst>
          </a:prstGeom>
          <a:solidFill>
            <a:srgbClr val="D6ECF8"/>
          </a:solidFill>
          <a:ln w="15240">
            <a:solidFill>
              <a:srgbClr val="1D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400" b="1">
                <a:solidFill>
                  <a:srgbClr val="1D6FB8"/>
                </a:solidFill>
                <a:latin typeface="Calibri"/>
              </a:rPr>
              <a:t>PROPUESTA DE VALOR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Reserva rápida y segura de canchas deportivas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/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Disponibilidad en tiempo real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Pagos digitales (Yape, Plin,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  Mercado Pago, PayPal)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Organización de pichangas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Calificaciones y confianza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51560"/>
            <a:ext cx="2240280" cy="1920240"/>
          </a:xfrm>
          <a:prstGeom prst="roundRect">
            <a:avLst>
              <a:gd name="adj" fmla="val 4000"/>
            </a:avLst>
          </a:prstGeom>
          <a:solidFill>
            <a:srgbClr val="E9F4EC"/>
          </a:solidFill>
          <a:ln w="15240">
            <a:solidFill>
              <a:srgbClr val="1E6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1E6B49"/>
                </a:solidFill>
                <a:latin typeface="Calibri"/>
              </a:rPr>
              <a:t>RELACIÓN CON CLIENTES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Soporte automatizado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con chatbot IA (24/7)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Notificaciones push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y email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Historial personalizado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Calificación de canchas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063240"/>
            <a:ext cx="2240280" cy="1691640"/>
          </a:xfrm>
          <a:prstGeom prst="roundRect">
            <a:avLst>
              <a:gd name="adj" fmla="val 4000"/>
            </a:avLst>
          </a:prstGeom>
          <a:solidFill>
            <a:srgbClr val="E9F4EC"/>
          </a:solidFill>
          <a:ln w="15240">
            <a:solidFill>
              <a:srgbClr val="1E6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1E6B49"/>
                </a:solidFill>
                <a:latin typeface="Calibri"/>
              </a:rPr>
              <a:t>CANALES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Aplicación web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responsive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Redes sociales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Alianzas con complejos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deportivos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SEO / 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051560"/>
            <a:ext cx="2240280" cy="1920240"/>
          </a:xfrm>
          <a:prstGeom prst="roundRect">
            <a:avLst>
              <a:gd name="adj" fmla="val 4000"/>
            </a:avLst>
          </a:prstGeom>
          <a:solidFill>
            <a:srgbClr val="E9F4EC"/>
          </a:solidFill>
          <a:ln w="15240">
            <a:solidFill>
              <a:srgbClr val="1E6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1E6B49"/>
                </a:solidFill>
                <a:latin typeface="Calibri"/>
              </a:rPr>
              <a:t>SEGMENTOS DE CLIENTES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Jugadores de fútbol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amateur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Organizadores de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pichangas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• Propietarios de canchas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00">
                <a:solidFill>
                  <a:srgbClr val="1A2733"/>
                </a:solidFill>
                <a:latin typeface="Calibri"/>
              </a:rPr>
              <a:t>   deportivas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846320"/>
            <a:ext cx="2240280" cy="1874519"/>
          </a:xfrm>
          <a:prstGeom prst="roundRect">
            <a:avLst>
              <a:gd name="adj" fmla="val 4000"/>
            </a:avLst>
          </a:prstGeom>
          <a:solidFill>
            <a:srgbClr val="FDF0E4"/>
          </a:solidFill>
          <a:ln w="15240">
            <a:solidFill>
              <a:srgbClr val="E5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E57A3D"/>
                </a:solidFill>
                <a:latin typeface="Calibri"/>
              </a:rPr>
              <a:t>ESTRUCTURA DE COSTOS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Desarrollo de software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Hosting y servidores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Licencias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Marketing digital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1A2733"/>
                </a:solidFill>
                <a:latin typeface="Calibri"/>
              </a:rPr>
              <a:t>• Soporte y capacitación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846320"/>
            <a:ext cx="4572000" cy="1874519"/>
          </a:xfrm>
          <a:prstGeom prst="roundRect">
            <a:avLst>
              <a:gd name="adj" fmla="val 4000"/>
            </a:avLst>
          </a:prstGeom>
          <a:solidFill>
            <a:srgbClr val="FBF3DC"/>
          </a:solidFill>
          <a:ln w="15240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 bIns="54864"/>
          <a:lstStyle/>
          <a:p>
            <a:pPr algn="ctr"/>
            <a:r>
              <a:rPr sz="1300" b="1">
                <a:solidFill>
                  <a:srgbClr val="8A6410"/>
                </a:solidFill>
                <a:latin typeface="Calibri"/>
              </a:rPr>
              <a:t>FUENTES DE INGRESOS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Comisión por reserva (10%)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Suscripción premium para propietarios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00">
                <a:solidFill>
                  <a:srgbClr val="1A2733"/>
                </a:solidFill>
                <a:latin typeface="Calibri"/>
              </a:rPr>
              <a:t>• Publicidad segmentada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56832"/>
            <a:ext cx="11247120" cy="182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5A6B7B"/>
                </a:solidFill>
                <a:latin typeface="Calibri"/>
              </a:rPr>
              <a:t>Elaboración propia — Curso Integrador I: Sistemas Software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