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598" autoAdjust="0"/>
  </p:normalViewPr>
  <p:slideViewPr>
    <p:cSldViewPr snapToGrid="0" snapToObjects="1">
      <p:cViewPr varScale="1">
        <p:scale>
          <a:sx n="90" d="100"/>
          <a:sy n="90" d="100"/>
        </p:scale>
        <p:origin x="13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DDDFC"/>
                </a:solidFill>
                <a:latin typeface="Calibri"/>
              </a:rPr>
              <a:t>PROYECTO INTEGRADOR I  ·  SISTEMAS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Calibri"/>
              </a:rPr>
              <a:t>PichangaApp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7DDDFC"/>
                </a:solidFill>
                <a:latin typeface="Calibri"/>
              </a:rPr>
              <a:t>Plataforma web de reserva de canchas deportivas y organización de pichangas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3840480" cy="36576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Calibri"/>
              </a:rPr>
              <a:t>Marizza (líder/backend) · Segundo T. (backend) · Juan F. (frontend) · Erick (frontend) · Jairo S. (calidad/documentación)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16 semanas  ·  Presupuesto S/ 30,000  ·  Java + Spring Boot  ·  React  · 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¿Qué veremos hoy?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910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El problema de la coordinación deportiva amateur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12848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579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PichangaApp: la solución marketplace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79776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7249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Análisis del contexto y modelo de negocio (Canvas)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46704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2918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Tres alternativas de solución (≥50 % Java)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13632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587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Arquitectura y diseño (BPMN, ER, clases)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4256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Prototipo funcional y alcance cubierto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047488"/>
            <a:ext cx="164592" cy="16459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99262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Presupuesto, cronograma y equipo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El problema: coordinación artesanal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5577840"/>
            <a:ext cx="534009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Para los jugadores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1056"/>
            <a:ext cx="512064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Información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dispersa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: WhatsApp,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llamadas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y Facebook</a:t>
            </a:r>
          </a:p>
          <a:p>
            <a:pPr algn="l">
              <a:lnSpc>
                <a:spcPct val="100000"/>
              </a:lnSpc>
            </a:pPr>
            <a:r>
              <a:rPr sz="2000" b="0" dirty="0">
                <a:solidFill>
                  <a:srgbClr val="475569"/>
                </a:solidFill>
                <a:latin typeface="Calibri"/>
              </a:rPr>
              <a:t>• Horas para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confirmar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un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horario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libre</a:t>
            </a:r>
          </a:p>
          <a:p>
            <a:pPr algn="l">
              <a:lnSpc>
                <a:spcPct val="100000"/>
              </a:lnSpc>
            </a:pPr>
            <a:r>
              <a:rPr sz="2000" b="0" dirty="0">
                <a:solidFill>
                  <a:srgbClr val="475569"/>
                </a:solidFill>
                <a:latin typeface="Calibri"/>
              </a:rPr>
              <a:t>• Dobles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reservas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y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conflictos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frecuentes</a:t>
            </a:r>
            <a:endParaRPr sz="20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2000" b="0" dirty="0">
                <a:solidFill>
                  <a:srgbClr val="475569"/>
                </a:solidFill>
                <a:latin typeface="Calibri"/>
              </a:rPr>
              <a:t>• Sin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garantía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que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el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horario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475569"/>
                </a:solidFill>
                <a:latin typeface="Calibri"/>
              </a:rPr>
              <a:t>siga</a:t>
            </a:r>
            <a:r>
              <a:rPr sz="2000" b="0" dirty="0">
                <a:solidFill>
                  <a:srgbClr val="475569"/>
                </a:solidFill>
                <a:latin typeface="Calibri"/>
              </a:rPr>
              <a:t> disponible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5577840"/>
            <a:ext cx="534009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557784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Para los propietarios de canchas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449"/>
            <a:ext cx="5120640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2000" b="0">
                <a:solidFill>
                  <a:srgbClr val="475569"/>
                </a:solidFill>
                <a:latin typeface="Calibri"/>
              </a:defRPr>
            </a:lvl1pPr>
          </a:lstStyle>
          <a:p>
            <a:r>
              <a:rPr dirty="0"/>
              <a:t>• Parrilla de </a:t>
            </a:r>
            <a:r>
              <a:rPr dirty="0" err="1"/>
              <a:t>horarios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cuadernos</a:t>
            </a:r>
            <a:r>
              <a:rPr dirty="0"/>
              <a:t> o hojas de </a:t>
            </a:r>
            <a:r>
              <a:rPr dirty="0" err="1"/>
              <a:t>cálculo</a:t>
            </a:r>
            <a:endParaRPr dirty="0"/>
          </a:p>
          <a:p>
            <a:r>
              <a:rPr dirty="0"/>
              <a:t>• Sin </a:t>
            </a:r>
            <a:r>
              <a:rPr dirty="0" err="1"/>
              <a:t>visibilidad</a:t>
            </a:r>
            <a:r>
              <a:rPr dirty="0"/>
              <a:t> de la </a:t>
            </a:r>
            <a:r>
              <a:rPr dirty="0" err="1"/>
              <a:t>ocupación</a:t>
            </a:r>
            <a:r>
              <a:rPr dirty="0"/>
              <a:t> real</a:t>
            </a:r>
          </a:p>
          <a:p>
            <a:r>
              <a:rPr dirty="0"/>
              <a:t>• </a:t>
            </a:r>
            <a:r>
              <a:rPr dirty="0" err="1"/>
              <a:t>Dificultad</a:t>
            </a:r>
            <a:r>
              <a:rPr dirty="0"/>
              <a:t> para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ingresos</a:t>
            </a:r>
            <a:r>
              <a:rPr dirty="0"/>
              <a:t> y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decisiones</a:t>
            </a:r>
            <a:endParaRPr dirty="0"/>
          </a:p>
          <a:p>
            <a:r>
              <a:rPr dirty="0"/>
              <a:t>• </a:t>
            </a:r>
            <a:r>
              <a:rPr dirty="0" err="1"/>
              <a:t>Huecos</a:t>
            </a:r>
            <a:r>
              <a:rPr dirty="0"/>
              <a:t> </a:t>
            </a:r>
            <a:r>
              <a:rPr dirty="0" err="1"/>
              <a:t>vacíos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se </a:t>
            </a:r>
            <a:r>
              <a:rPr dirty="0" err="1"/>
              <a:t>llenan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87D6"/>
                </a:solidFill>
                <a:latin typeface="Calibri"/>
              </a:rPr>
              <a:t>El fútbol es el deporte más practicado en el Perú, pero su organización sigue siendo manual.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PichangaApp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5240">
            <a:solidFill>
              <a:srgbClr val="0B8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Marketplace web que centraliza la búsqueda, reserva y pago de canchas, y la organización de pichangas.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4754880"/>
            <a:ext cx="255117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7548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Búsqueda inteligente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1"/>
            <a:ext cx="23317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475569"/>
                </a:solidFill>
                <a:latin typeface="Calibri"/>
              </a:rPr>
              <a:t>Filtros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distrito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superficie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horario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precio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y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valoración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92608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92424" y="4754880"/>
            <a:ext cx="255117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47548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Pagos digitales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246121"/>
            <a:ext cx="23317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475569"/>
                </a:solidFill>
                <a:latin typeface="Calibri"/>
              </a:rPr>
              <a:t>Yape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Plin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Mercado Pago y PayPal con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confirmación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automática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92608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8776" y="4754880"/>
            <a:ext cx="2551176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47548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Pichangas con cupos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356" y="3154680"/>
            <a:ext cx="23317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Publica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partidos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únete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y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controla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los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cupos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92608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25128" y="4754880"/>
            <a:ext cx="255117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34856" y="47548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Panel del propietario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8572" y="3154680"/>
            <a:ext cx="233172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475569"/>
                </a:solidFill>
                <a:latin typeface="Calibri"/>
              </a:rPr>
              <a:t>Horarios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reservas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ingresos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y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reportes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exportables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Calibri"/>
              </a:rPr>
              <a:t>Beneficio: reservar en pocos pasos con información en tiempo real, pagos integrados y menos conflictos de doble reserva.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ANÁLISIS DEL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Visión, misión, estrategias y planes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87D6"/>
                </a:solidFill>
                <a:latin typeface="Calibri"/>
              </a:rPr>
              <a:t>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Ser la plataforma líder en reservas de canchas deportivas en el Perú, optimizando la experiencia deportiva.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MISIÓN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Brindar una plataforma confiable, accesible y segura para gestionar reservas, optimizar tiempos y pagar en línea.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5669280"/>
            <a:ext cx="5340096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66928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Estrategias (Tabla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Facilidad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uso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: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reserva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≤ 3 pasos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Disponibilidad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tiempo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real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Digitalización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pagos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Interacción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con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pichangas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Beneficio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para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propietarios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•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Experiencia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del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usuario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notificaciones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historial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918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53912" y="5669280"/>
            <a:ext cx="534009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566928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Planes (Tabla 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Corto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plazo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(S1–S8):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  Primera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versión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web con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registro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búsqueda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reservas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y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pagos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Mediano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plazo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(S9–S16):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  Más canchas y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funciones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avanzadas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de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pichangas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Largo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plazo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: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 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Expansión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a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otras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ciudades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del Perú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MODELO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Business Model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8096" y="1362456"/>
            <a:ext cx="10533888" cy="10533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usiness_model_canvas_pichanga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424160" cy="6692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ALTERNATIVAS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Tres soluciones con ≥50 % de código en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4754880"/>
            <a:ext cx="3465576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754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ALT 1 · Web Java (Spring MVC + Thymeleaf)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1" y="2011680"/>
            <a:ext cx="3246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100 % Java</a:t>
            </a: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S/ 20,000 – 24,000</a:t>
            </a: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12–14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semanas</a:t>
            </a:r>
            <a:endParaRPr sz="12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475569"/>
                </a:solidFill>
                <a:latin typeface="Calibri"/>
              </a:rPr>
              <a:t>Descartada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menos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interactiva</a:t>
            </a:r>
            <a:endParaRPr sz="12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5112" y="4754880"/>
            <a:ext cx="346557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4754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ALT 2 · Web + API (Spring Boot)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956816"/>
            <a:ext cx="3246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≈50 % Java (backend 100 %)</a:t>
            </a: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S/ 24,000 – 28,000</a:t>
            </a: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14–16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semanas</a:t>
            </a:r>
            <a:endParaRPr sz="12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SELECCIONADA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3736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4151" y="4754880"/>
            <a:ext cx="3465576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4754880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ALT 3 · Android nativo en Java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956816"/>
            <a:ext cx="32461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100 % Java</a:t>
            </a: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S/ 45,000 – 55,000</a:t>
            </a:r>
          </a:p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475569"/>
                </a:solidFill>
                <a:latin typeface="Calibri"/>
              </a:rPr>
              <a:t>20–22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semanas</a:t>
            </a:r>
            <a:endParaRPr sz="12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475569"/>
                </a:solidFill>
                <a:latin typeface="Calibri"/>
              </a:rPr>
              <a:t>Descartada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sobre</a:t>
            </a:r>
            <a:r>
              <a:rPr sz="12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475569"/>
                </a:solidFill>
                <a:latin typeface="Calibri"/>
              </a:rPr>
              <a:t>presupuesto</a:t>
            </a:r>
            <a:endParaRPr sz="12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dirty="0">
                <a:solidFill>
                  <a:srgbClr val="475569"/>
                </a:solidFill>
                <a:latin typeface="Calibri"/>
              </a:rPr>
              <a:t>Las 3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alternativas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cumplen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el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requisito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de la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rúbrica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(≥50 % Java). Se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seleccionó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la Alternativa 2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porque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ajusta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presupuesto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y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plazo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, y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su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API Java es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reutilizable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por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futuras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 apps </a:t>
            </a:r>
            <a:r>
              <a:rPr sz="1300" b="0" dirty="0" err="1">
                <a:solidFill>
                  <a:srgbClr val="475569"/>
                </a:solidFill>
                <a:latin typeface="Calibri"/>
              </a:rPr>
              <a:t>móviles</a:t>
            </a:r>
            <a:r>
              <a:rPr sz="130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Arquitectura en tres capas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React + TypeScript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2148840"/>
            <a:ext cx="548640" cy="54864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Backend 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Java · Spring Boot · JWT · BCrypt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89520" y="2148840"/>
            <a:ext cx="548640" cy="548640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9659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7744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SQL Server · Hibernate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5486400"/>
            <a:ext cx="534009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Patrón MTV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94760"/>
            <a:ext cx="5120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Modelo: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entidades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JPA +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repositorios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Spring Data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Vista: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controladores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REST</a:t>
            </a: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Plantilla: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componentes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React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en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el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navegador</a:t>
            </a:r>
            <a:endParaRPr sz="1100" b="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0" y="35661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53912" y="5486400"/>
            <a:ext cx="534009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54864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Patrón DAO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03320"/>
            <a:ext cx="5120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475569"/>
                </a:solidFill>
                <a:latin typeface="Calibri"/>
              </a:rPr>
              <a:t>UsuarioDAO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·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CanchaDAO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·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ReservaDAO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475569"/>
                </a:solidFill>
                <a:latin typeface="Calibri"/>
              </a:rPr>
              <a:t>PagoDAO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·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PichangaDAO</a:t>
            </a:r>
            <a:endParaRPr sz="1100" b="0" dirty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475569"/>
                </a:solidFill>
                <a:latin typeface="Calibri"/>
              </a:rPr>
              <a:t>Cada DAO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extiende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75569"/>
                </a:solidFill>
                <a:latin typeface="Calibri"/>
              </a:rPr>
              <a:t>JpaRepository</a:t>
            </a:r>
            <a:r>
              <a:rPr sz="1100" b="0" dirty="0">
                <a:solidFill>
                  <a:srgbClr val="475569"/>
                </a:solidFill>
                <a:latin typeface="Calibri"/>
              </a:rPr>
              <a:t> (Spring Data)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PROCESOS BPMN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P04 · Reserva de cancha con pago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2336" y="1316736"/>
            <a:ext cx="11356848" cy="11356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PMN_P04_Reserva_Cancha_Pa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222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PROCESOS BPMN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P01 · Registro y verificación de identidad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2336" y="1316736"/>
            <a:ext cx="11356848" cy="11356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PMN_P01_Registro_Ver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49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Diagrama Entidad-Relación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5215" y="1316736"/>
            <a:ext cx="7790688" cy="7790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_ER_Pichanga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68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55448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9 entidades principales: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• usuario · cancha · horario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• reserva · pago · pichanga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• pichanga_participante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• calificación · notificación</a:t>
            </a:r>
          </a:p>
          <a:p>
            <a:pPr algn="l">
              <a:lnSpc>
                <a:spcPct val="100000"/>
              </a:lnSpc>
            </a:pPr>
            <a:endParaRPr sz="120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Notación pata de cuervo (1:N, 1:1 y N:M por tabla puente).</a:t>
            </a:r>
          </a:p>
          <a:p>
            <a:pPr algn="l">
              <a:lnSpc>
                <a:spcPct val="100000"/>
              </a:lnSpc>
            </a:pPr>
            <a:endParaRPr sz="120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Soporta RF04, RF05 y RF07.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DISEÑO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Diagrama de clases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8737" y="1554480"/>
            <a:ext cx="7790688" cy="51617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_Clases_Pichanga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1192"/>
            <a:ext cx="7068312" cy="4704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Entidades del dominio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Enumerados (tipo, estados, métodos)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Interfaces DAO → JpaRepository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Controladores REST</a:t>
            </a:r>
          </a:p>
          <a:p>
            <a:pPr algn="l">
              <a:lnSpc>
                <a:spcPct val="100000"/>
              </a:lnSpc>
            </a:pPr>
            <a:endParaRPr sz="120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Multiplicidades 1 y * en las asociaciones.</a:t>
            </a:r>
          </a:p>
          <a:p>
            <a:pPr algn="l">
              <a:lnSpc>
                <a:spcPct val="100000"/>
              </a:lnSpc>
            </a:pPr>
            <a:endParaRPr sz="1200" b="0">
              <a:solidFill>
                <a:srgbClr val="475569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Aplica los patrones MTV y DAO.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Prototipo 3 (definitivo) — flujo de reserva y pago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3776" y="1408176"/>
            <a:ext cx="3538728" cy="3538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ototipo_3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429000" cy="21431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88536" y="1408176"/>
            <a:ext cx="3538728" cy="3538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rototipo_3_busqu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3429000" cy="21431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83296" y="1408176"/>
            <a:ext cx="3538728" cy="3538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rototipo_3_result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429000" cy="21431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93776" y="3739896"/>
            <a:ext cx="3538728" cy="2404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rototipo_3_hor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94760"/>
            <a:ext cx="3429000" cy="2143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288536" y="3739897"/>
            <a:ext cx="3538728" cy="23900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rototipo_3_pa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794760"/>
            <a:ext cx="3429000" cy="214312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83296" y="3739896"/>
            <a:ext cx="3538728" cy="23900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rototipo_3_confirmac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794760"/>
            <a:ext cx="3429000" cy="2143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Home · Búsqueda · Resultados · Horarios · Pago (QR Yape/Plin) · Confirmación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Pantallas nuevas que completan el alcance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3776" y="1408176"/>
            <a:ext cx="3538728" cy="3538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3-ResumenRese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429000" cy="21431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88536" y="1408176"/>
            <a:ext cx="3538728" cy="3538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3-CrearPichan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63040"/>
            <a:ext cx="3429000" cy="21431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83296" y="1408176"/>
            <a:ext cx="3538728" cy="3538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3-Pichang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63040"/>
            <a:ext cx="3429000" cy="21431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93776" y="3739896"/>
            <a:ext cx="3538728" cy="2404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1-ConfirmacionReser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94760"/>
            <a:ext cx="3429000" cy="2143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288536" y="3739896"/>
            <a:ext cx="3538728" cy="2404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2-FormularioHorar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794760"/>
            <a:ext cx="3429000" cy="214312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83296" y="3739896"/>
            <a:ext cx="3538728" cy="2414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2-Repor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794760"/>
            <a:ext cx="3429000" cy="2143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Resumen · Crear pichanga · Unirme · Confirmación P1 · Nuevo horario · Reportes (P2)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Matriz de trazabilidad: 100 % cubierto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65F46"/>
                </a:solidFill>
                <a:latin typeface="Calibri"/>
              </a:rPr>
              <a:t>RF01–RF12 y RNF01–RNF10 cubiertos por pantallas y diseño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4023360"/>
            <a:ext cx="255117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Búsqueda y reserva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136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RF04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92424" y="4023360"/>
            <a:ext cx="255117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40233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Pichangas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9136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RF06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8776" y="4023360"/>
            <a:ext cx="2551176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4" y="40233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Pagos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9136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7432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25128" y="4023360"/>
            <a:ext cx="255117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34856" y="40233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Notificaciones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39136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" y="5852160"/>
            <a:ext cx="255117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521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Calificaciones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424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45720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92424" y="5852160"/>
            <a:ext cx="255117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02152" y="58521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Historial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57424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45720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08776" y="5852160"/>
            <a:ext cx="255117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8504" y="58521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Panel propietario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57424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RF12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4572000"/>
            <a:ext cx="2606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25128" y="5852160"/>
            <a:ext cx="2551176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34856" y="58521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Seguridad y RNF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856" y="5742432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RNF01–RNF10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Evidencia directa para el criterio 4 de la rúbrica (prototipo que cubre el 100 % del alcance).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Presupuesto: S/ 27,384 de S/ 30,000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1005840" cy="3291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18.144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Recursos humanos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5104674"/>
            <a:ext cx="1005840" cy="290285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1.600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Infraestructura y hosting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5242560"/>
            <a:ext cx="1005840" cy="15240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59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840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Herramientas y licencias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5249817"/>
            <a:ext cx="1005840" cy="145142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59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Integraciones y pasarelas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5032102"/>
            <a:ext cx="1005840" cy="362857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59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2.000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Marketing y lanzamiento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4850674"/>
            <a:ext cx="1005840" cy="544285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3.000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Contingencia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5213531"/>
            <a:ext cx="1005840" cy="181428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0" y="5532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0F172A"/>
                </a:solidFill>
                <a:latin typeface="Calibri"/>
              </a:rPr>
              <a:t>S/ 1.000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580644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Calibri"/>
              </a:rPr>
              <a:t>Capacitación y soporte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8300" y="923544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41180" y="128930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DDDFC"/>
                </a:solidFill>
                <a:latin typeface="Calibri"/>
              </a:rP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1180" y="1746504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FFFFFF"/>
                </a:solidFill>
                <a:latin typeface="Calibri"/>
              </a:rPr>
              <a:t>S/ 27,384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1180" y="2752344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 err="1">
                <a:solidFill>
                  <a:srgbClr val="CBD5E1"/>
                </a:solidFill>
                <a:latin typeface="Calibri"/>
              </a:rPr>
              <a:t>Margen</a:t>
            </a:r>
            <a:r>
              <a:rPr sz="1200" b="0" dirty="0">
                <a:solidFill>
                  <a:srgbClr val="CBD5E1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CBD5E1"/>
                </a:solidFill>
                <a:latin typeface="Calibri"/>
              </a:rPr>
              <a:t>frente</a:t>
            </a:r>
            <a:r>
              <a:rPr sz="1200" b="0" dirty="0">
                <a:solidFill>
                  <a:srgbClr val="CBD5E1"/>
                </a:solidFill>
                <a:latin typeface="Calibri"/>
              </a:rPr>
              <a:t> al </a:t>
            </a:r>
            <a:r>
              <a:rPr sz="1200" b="0" dirty="0" err="1">
                <a:solidFill>
                  <a:srgbClr val="CBD5E1"/>
                </a:solidFill>
                <a:latin typeface="Calibri"/>
              </a:rPr>
              <a:t>límite</a:t>
            </a:r>
            <a:r>
              <a:rPr sz="1200" b="0" dirty="0">
                <a:solidFill>
                  <a:srgbClr val="CBD5E1"/>
                </a:solidFill>
                <a:latin typeface="Calibri"/>
              </a:rPr>
              <a:t>:
S/ 2,616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Diagrama de Gantt — 16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656" y="1408176"/>
            <a:ext cx="10716767" cy="107167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_gantt_pichanga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07040" cy="53986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72A"/>
                </a:solidFill>
                <a:latin typeface="Calibri"/>
              </a:rPr>
              <a:t>Cinco roles, un objetivo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" cy="54864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764792"/>
            <a:ext cx="2048256" cy="27432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Marizza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87D6"/>
                </a:solidFill>
                <a:latin typeface="Calibri"/>
              </a:rPr>
              <a:t>Líder y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Arquitectura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autenticación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reservas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173736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3784" y="1764792"/>
            <a:ext cx="204825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2286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Segundo 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743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2004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Canchas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pagos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pichangas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73736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11496" y="1764792"/>
            <a:ext cx="2048256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5504" y="2286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Juan 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743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2004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Búsqueda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catálogo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detalle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776" y="173736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79208" y="1764792"/>
            <a:ext cx="204825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286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Erick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2743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alibri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8936" y="32004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Dashboard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reportes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perfil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9488" y="173736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20" y="1764792"/>
            <a:ext cx="204825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10928" y="22860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Jairo 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743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F4444"/>
                </a:solidFill>
                <a:latin typeface="Calibri"/>
              </a:rPr>
              <a:t>Calidad y documentación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320040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Pruebas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docs</a:t>
            </a:r>
          </a:p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integraciones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B8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7DDDFC"/>
                </a:solidFill>
                <a:latin typeface="Calibri"/>
              </a:rPr>
              <a:t>PichangaApp — La cancha que buscas, a un clic de distancia.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BD5E1"/>
                </a:solidFill>
                <a:latin typeface="Calibri"/>
              </a:rPr>
              <a:t>100 % del alcance cubierto · ≥50 % Java · listo para sustentación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Curso Integrador I: Sistemas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1043</Words>
  <Application>Microsoft Office PowerPoint</Application>
  <PresentationFormat>Panorámica</PresentationFormat>
  <Paragraphs>217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ALUMNO - JHUNIOR COLLANTES MEZA</cp:lastModifiedBy>
  <cp:revision>2</cp:revision>
  <dcterms:created xsi:type="dcterms:W3CDTF">2013-01-27T09:14:16Z</dcterms:created>
  <dcterms:modified xsi:type="dcterms:W3CDTF">2026-09-29T15:25:29Z</dcterms:modified>
  <cp:category/>
</cp:coreProperties>
</file>